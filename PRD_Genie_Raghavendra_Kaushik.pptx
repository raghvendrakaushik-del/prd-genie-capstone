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a947a2c5744efb" /><Relationship Type="http://schemas.openxmlformats.org/officeDocument/2006/relationships/extended-properties" Target="/docProps/app.xml" Id="R5449da8a6df842e3" /><Relationship Type="http://schemas.openxmlformats.org/officeDocument/2006/relationships/officeDocument" Target="/ppt/presentation.xml" Id="R26bf7eafe8ac40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8d2817b81c4f09"/>
  </p:sldMasterIdLst>
  <p:notesMasterIdLst>
    <p:notesMasterId xmlns:r="http://schemas.openxmlformats.org/officeDocument/2006/relationships" r:id="R12281e214be747b2"/>
  </p:notesMasterIdLst>
  <p:sldIdLst>
    <p:sldId xmlns:r="http://schemas.openxmlformats.org/officeDocument/2006/relationships" id="256" r:id="R741058bf5eea45c7"/>
    <p:sldId xmlns:r="http://schemas.openxmlformats.org/officeDocument/2006/relationships" id="257" r:id="Rd22bc71dd4334f00"/>
    <p:sldId xmlns:r="http://schemas.openxmlformats.org/officeDocument/2006/relationships" id="258" r:id="Rd1fa48011b5e465b"/>
    <p:sldId xmlns:r="http://schemas.openxmlformats.org/officeDocument/2006/relationships" id="259" r:id="R7e02dff25b734a90"/>
    <p:sldId xmlns:r="http://schemas.openxmlformats.org/officeDocument/2006/relationships" id="260" r:id="R3f081d295e464f31"/>
    <p:sldId xmlns:r="http://schemas.openxmlformats.org/officeDocument/2006/relationships" id="261" r:id="R87a1a58ec5874d2f"/>
    <p:sldId xmlns:r="http://schemas.openxmlformats.org/officeDocument/2006/relationships" id="262" r:id="R355390d0d95144fb"/>
    <p:sldId xmlns:r="http://schemas.openxmlformats.org/officeDocument/2006/relationships" id="263" r:id="Rfefaf97fb9164477"/>
    <p:sldId xmlns:r="http://schemas.openxmlformats.org/officeDocument/2006/relationships" id="264" r:id="R4b7de913ddd74699"/>
    <p:sldId xmlns:r="http://schemas.openxmlformats.org/officeDocument/2006/relationships" id="265" r:id="R4dc82eef257540e2"/>
    <p:sldId xmlns:r="http://schemas.openxmlformats.org/officeDocument/2006/relationships" id="266" r:id="R55d6a013feeb422a"/>
    <p:sldId xmlns:r="http://schemas.openxmlformats.org/officeDocument/2006/relationships" id="267" r:id="Rf3533bd266704cdf"/>
    <p:sldId xmlns:r="http://schemas.openxmlformats.org/officeDocument/2006/relationships" id="268" r:id="Re2e856afc6274382"/>
    <p:sldId xmlns:r="http://schemas.openxmlformats.org/officeDocument/2006/relationships" id="269" r:id="Re28054f8cc34400e"/>
    <p:sldId xmlns:r="http://schemas.openxmlformats.org/officeDocument/2006/relationships" id="270" r:id="Rac570df845114ab9"/>
    <p:sldId xmlns:r="http://schemas.openxmlformats.org/officeDocument/2006/relationships" id="271" r:id="Rbf106cb04d7349af"/>
    <p:sldId xmlns:r="http://schemas.openxmlformats.org/officeDocument/2006/relationships" id="272" r:id="Re85985fd5eb14a85"/>
    <p:sldId xmlns:r="http://schemas.openxmlformats.org/officeDocument/2006/relationships" id="273" r:id="R1859845f490948ad"/>
    <p:sldId xmlns:r="http://schemas.openxmlformats.org/officeDocument/2006/relationships" id="274" r:id="R6334cc1c0f034952"/>
    <p:sldId xmlns:r="http://schemas.openxmlformats.org/officeDocument/2006/relationships" id="275" r:id="R77070e245f054c58"/>
    <p:sldId xmlns:r="http://schemas.openxmlformats.org/officeDocument/2006/relationships" id="276" r:id="R00280ed768404cbe"/>
    <p:sldId xmlns:r="http://schemas.openxmlformats.org/officeDocument/2006/relationships" id="277" r:id="Rbde3abfa917a43e1"/>
    <p:sldId xmlns:r="http://schemas.openxmlformats.org/officeDocument/2006/relationships" id="278" r:id="R4388b8dcfca94f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934d1a0f624889" /><Relationship Type="http://schemas.openxmlformats.org/officeDocument/2006/relationships/slideMaster" Target="/ppt/slideMasters/slideMaster1.xml" Id="Rbb8d2817b81c4f09" /><Relationship Type="http://schemas.openxmlformats.org/officeDocument/2006/relationships/notesMaster" Target="/ppt/notesMasters/notesMaster1.xml" Id="R12281e214be747b2" /><Relationship Type="http://schemas.openxmlformats.org/officeDocument/2006/relationships/presProps" Target="/ppt/presProps.xml" Id="R7a07e812a27042d0" /><Relationship Type="http://schemas.openxmlformats.org/officeDocument/2006/relationships/tableStyles" Target="/ppt/tableStyles.xml" Id="Rd5d2992e386d4092" /><Relationship Type="http://schemas.openxmlformats.org/officeDocument/2006/relationships/slide" Target="/ppt/slides/slide1.xml" Id="R741058bf5eea45c7" /><Relationship Type="http://schemas.openxmlformats.org/officeDocument/2006/relationships/slide" Target="/ppt/slides/slide2.xml" Id="Rd22bc71dd4334f00" /><Relationship Type="http://schemas.openxmlformats.org/officeDocument/2006/relationships/slide" Target="/ppt/slides/slide3.xml" Id="Rd1fa48011b5e465b" /><Relationship Type="http://schemas.openxmlformats.org/officeDocument/2006/relationships/slide" Target="/ppt/slides/slide4.xml" Id="R7e02dff25b734a90" /><Relationship Type="http://schemas.openxmlformats.org/officeDocument/2006/relationships/slide" Target="/ppt/slides/slide5.xml" Id="R3f081d295e464f31" /><Relationship Type="http://schemas.openxmlformats.org/officeDocument/2006/relationships/slide" Target="/ppt/slides/slide6.xml" Id="R87a1a58ec5874d2f" /><Relationship Type="http://schemas.openxmlformats.org/officeDocument/2006/relationships/slide" Target="/ppt/slides/slide7.xml" Id="R355390d0d95144fb" /><Relationship Type="http://schemas.openxmlformats.org/officeDocument/2006/relationships/slide" Target="/ppt/slides/slide8.xml" Id="Rfefaf97fb9164477" /><Relationship Type="http://schemas.openxmlformats.org/officeDocument/2006/relationships/slide" Target="/ppt/slides/slide9.xml" Id="R4b7de913ddd74699" /><Relationship Type="http://schemas.openxmlformats.org/officeDocument/2006/relationships/slide" Target="/ppt/slides/slide10.xml" Id="R4dc82eef257540e2" /><Relationship Type="http://schemas.openxmlformats.org/officeDocument/2006/relationships/slide" Target="/ppt/slides/slide11.xml" Id="R55d6a013feeb422a" /><Relationship Type="http://schemas.openxmlformats.org/officeDocument/2006/relationships/slide" Target="/ppt/slides/slide12.xml" Id="Rf3533bd266704cdf" /><Relationship Type="http://schemas.openxmlformats.org/officeDocument/2006/relationships/slide" Target="/ppt/slides/slide13.xml" Id="Re2e856afc6274382" /><Relationship Type="http://schemas.openxmlformats.org/officeDocument/2006/relationships/slide" Target="/ppt/slides/slide14.xml" Id="Re28054f8cc34400e" /><Relationship Type="http://schemas.openxmlformats.org/officeDocument/2006/relationships/slide" Target="/ppt/slides/slide15.xml" Id="Rac570df845114ab9" /><Relationship Type="http://schemas.openxmlformats.org/officeDocument/2006/relationships/slide" Target="/ppt/slides/slide16.xml" Id="Rbf106cb04d7349af" /><Relationship Type="http://schemas.openxmlformats.org/officeDocument/2006/relationships/slide" Target="/ppt/slides/slide17.xml" Id="Re85985fd5eb14a85" /><Relationship Type="http://schemas.openxmlformats.org/officeDocument/2006/relationships/slide" Target="/ppt/slides/slide18.xml" Id="R1859845f490948ad" /><Relationship Type="http://schemas.openxmlformats.org/officeDocument/2006/relationships/slide" Target="/ppt/slides/slide19.xml" Id="R6334cc1c0f034952" /><Relationship Type="http://schemas.openxmlformats.org/officeDocument/2006/relationships/slide" Target="/ppt/slides/slide20.xml" Id="R77070e245f054c58" /><Relationship Type="http://schemas.openxmlformats.org/officeDocument/2006/relationships/slide" Target="/ppt/slides/slide21.xml" Id="R00280ed768404cbe" /><Relationship Type="http://schemas.openxmlformats.org/officeDocument/2006/relationships/slide" Target="/ppt/slides/slide22.xml" Id="Rbde3abfa917a43e1" /><Relationship Type="http://schemas.openxmlformats.org/officeDocument/2006/relationships/slide" Target="/ppt/slides/slide23.xml" Id="R4388b8dcfca94f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8e475333004c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deb8ab75d444ac" /><Relationship Type="http://schemas.openxmlformats.org/officeDocument/2006/relationships/notesMaster" Target="/ppt/notesMasters/notesMaster1.xml" Id="Rcda0ad0ad99a49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9ebfb5858c4a15" /><Relationship Type="http://schemas.openxmlformats.org/officeDocument/2006/relationships/notesMaster" Target="/ppt/notesMasters/notesMaster1.xml" Id="R7272737dc4b242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ec08c28bde4171" /><Relationship Type="http://schemas.openxmlformats.org/officeDocument/2006/relationships/notesMaster" Target="/ppt/notesMasters/notesMaster1.xml" Id="Ref4cd06ba44943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8c525f6f8f4817" /><Relationship Type="http://schemas.openxmlformats.org/officeDocument/2006/relationships/notesMaster" Target="/ppt/notesMasters/notesMaster1.xml" Id="R534629bf3f064d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70ba7966854769" /><Relationship Type="http://schemas.openxmlformats.org/officeDocument/2006/relationships/notesMaster" Target="/ppt/notesMasters/notesMaster1.xml" Id="Rfe7fdd48868149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dd2fe57ac845b7" /><Relationship Type="http://schemas.openxmlformats.org/officeDocument/2006/relationships/notesMaster" Target="/ppt/notesMasters/notesMaster1.xml" Id="R191c761303214e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13699b1bec4797" /><Relationship Type="http://schemas.openxmlformats.org/officeDocument/2006/relationships/notesMaster" Target="/ppt/notesMasters/notesMaster1.xml" Id="Rd2120f95f13148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e987d25d474f44" /><Relationship Type="http://schemas.openxmlformats.org/officeDocument/2006/relationships/notesMaster" Target="/ppt/notesMasters/notesMaster1.xml" Id="R952913d0710e4a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f92e6306f7432c" /><Relationship Type="http://schemas.openxmlformats.org/officeDocument/2006/relationships/notesMaster" Target="/ppt/notesMasters/notesMaster1.xml" Id="Re5a34d9842f840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d1c12c85814f50" /><Relationship Type="http://schemas.openxmlformats.org/officeDocument/2006/relationships/notesMaster" Target="/ppt/notesMasters/notesMaster1.xml" Id="Re0624cb40a1f4f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7bf9b4a34c449e" /><Relationship Type="http://schemas.openxmlformats.org/officeDocument/2006/relationships/notesMaster" Target="/ppt/notesMasters/notesMaster1.xml" Id="Rd3a9ee57376f4b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6527047f8c41c5" /><Relationship Type="http://schemas.openxmlformats.org/officeDocument/2006/relationships/notesMaster" Target="/ppt/notesMasters/notesMaster1.xml" Id="Re9b6cf09c99346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8e855025074e6c" /><Relationship Type="http://schemas.openxmlformats.org/officeDocument/2006/relationships/notesMaster" Target="/ppt/notesMasters/notesMaster1.xml" Id="Racdd1723b4d648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fa762b7bc54aba" /><Relationship Type="http://schemas.openxmlformats.org/officeDocument/2006/relationships/notesMaster" Target="/ppt/notesMasters/notesMaster1.xml" Id="R87832fb03f8b43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c1c34745ad4d4f" /><Relationship Type="http://schemas.openxmlformats.org/officeDocument/2006/relationships/notesMaster" Target="/ppt/notesMasters/notesMaster1.xml" Id="Rdbba9a9a50ad46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740dc6bfb64091" /><Relationship Type="http://schemas.openxmlformats.org/officeDocument/2006/relationships/notesMaster" Target="/ppt/notesMasters/notesMaster1.xml" Id="R11dc37a71ed64a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076dc7dccf4517" /><Relationship Type="http://schemas.openxmlformats.org/officeDocument/2006/relationships/notesMaster" Target="/ppt/notesMasters/notesMaster1.xml" Id="R7953650625a14c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3e7d475fd6245f4" /><Relationship Type="http://schemas.openxmlformats.org/officeDocument/2006/relationships/notesMaster" Target="/ppt/notesMasters/notesMaster1.xml" Id="R0aa02383f782444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8e02de9b694dd3" /><Relationship Type="http://schemas.openxmlformats.org/officeDocument/2006/relationships/notesMaster" Target="/ppt/notesMasters/notesMaster1.xml" Id="Rf6ca6defdafc49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b8a4adf3e614697" /><Relationship Type="http://schemas.openxmlformats.org/officeDocument/2006/relationships/notesMaster" Target="/ppt/notesMasters/notesMaster1.xml" Id="R5050470ba2e245f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3ffebc15bd486a" /><Relationship Type="http://schemas.openxmlformats.org/officeDocument/2006/relationships/notesMaster" Target="/ppt/notesMasters/notesMaster1.xml" Id="Rdce385e5137240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aa9ba90c7e4a3b" /><Relationship Type="http://schemas.openxmlformats.org/officeDocument/2006/relationships/notesMaster" Target="/ppt/notesMasters/notesMaster1.xml" Id="R719bd2bf2b484f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2c3583b8bdd4578" /><Relationship Type="http://schemas.openxmlformats.org/officeDocument/2006/relationships/notesMaster" Target="/ppt/notesMasters/notesMaster1.xml" Id="R98dc69e2f7ba43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Capstone presentation by Raghavendra Kaushik. This deck covers the assignment rubric, the implementation, observed evidence and remaining limitations. 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deliberately separates the free-text baseline path from strict reviewed catalog generation. Both use sequential specialist stages. Source: exported Langflow workflows and v2/review_core.py.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tracing is connected and records root and component spans in the Langflow database. External Langfuse remains unconfigured. https://docs.langflow.org/traces. Trace 49393cd3-6cbc-46c7-a9a0-f6ea08f5a96e.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Rates checked September 13, 2026: https://console.groq.com/docs/models and https://console.groq.com/docs/model/openai/gpt-oss-120b. Live receipt: v2-live-status.json. Rates are list-price estimates, not a billing statement.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- PRD Genie: AI-Powered Product Documentation Assistant, pages 2-8. Local implementation and actual execution receipts dated September 13,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Closing. Ask the assessor to inspect the source evidence, the required baseline outcomes and the limitations alongside the finished PRD.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592137b0946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2add8d83fa4637" /><Relationship Type="http://schemas.openxmlformats.org/officeDocument/2006/relationships/slideLayout" Target="/ppt/slideLayouts/slideLayout1.xml" Id="R2edf95d2c24c46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df95d2c24c46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2fa22d9e94c15" /><Relationship Type="http://schemas.openxmlformats.org/officeDocument/2006/relationships/notesSlide" Target="/ppt/notesSlides/notesSlide1.xml" Id="R146e3571bbba42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2790a6b3542cd" /><Relationship Type="http://schemas.openxmlformats.org/officeDocument/2006/relationships/notesSlide" Target="/ppt/notesSlides/notesSlide2.xml" Id="R54bc90703bbb45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f31a678ac4290" /><Relationship Type="http://schemas.openxmlformats.org/officeDocument/2006/relationships/notesSlide" Target="/ppt/notesSlides/notesSlide3.xml" Id="R486e2f9b09564b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8cec8c6064ef0" /><Relationship Type="http://schemas.openxmlformats.org/officeDocument/2006/relationships/notesSlide" Target="/ppt/notesSlides/notesSlide4.xml" Id="R3628daed308e45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8f4f22bf9440b" /><Relationship Type="http://schemas.openxmlformats.org/officeDocument/2006/relationships/notesSlide" Target="/ppt/notesSlides/notesSlide5.xml" Id="R4301d8da184f44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83654b4af44f8" /><Relationship Type="http://schemas.openxmlformats.org/officeDocument/2006/relationships/notesSlide" Target="/ppt/notesSlides/notesSlide6.xml" Id="R5f3aaa7cd39c41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382fa1ce14137" /><Relationship Type="http://schemas.openxmlformats.org/officeDocument/2006/relationships/notesSlide" Target="/ppt/notesSlides/notesSlide7.xml" Id="R2f5dfa28e45b4a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158046b234f7e" /><Relationship Type="http://schemas.openxmlformats.org/officeDocument/2006/relationships/notesSlide" Target="/ppt/notesSlides/notesSlide8.xml" Id="R46983277adb24e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4d77907424152" /><Relationship Type="http://schemas.openxmlformats.org/officeDocument/2006/relationships/notesSlide" Target="/ppt/notesSlides/notesSlide9.xml" Id="R65cfe49f6f6047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d8fed49e24ee0" /><Relationship Type="http://schemas.openxmlformats.org/officeDocument/2006/relationships/notesSlide" Target="/ppt/notesSlides/notesSlide10.xml" Id="R61c40ddc30b84e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9903e17cf41df" /><Relationship Type="http://schemas.openxmlformats.org/officeDocument/2006/relationships/notesSlide" Target="/ppt/notesSlides/notesSlide11.xml" Id="R93490084360f41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88251eedd4179" /><Relationship Type="http://schemas.openxmlformats.org/officeDocument/2006/relationships/notesSlide" Target="/ppt/notesSlides/notesSlide12.xml" Id="Rc6082de53d864f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3069ab14d4b34" /><Relationship Type="http://schemas.openxmlformats.org/officeDocument/2006/relationships/notesSlide" Target="/ppt/notesSlides/notesSlide13.xml" Id="R56317026332d41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5b5759173486b" /><Relationship Type="http://schemas.openxmlformats.org/officeDocument/2006/relationships/notesSlide" Target="/ppt/notesSlides/notesSlide14.xml" Id="R8ac3b5309fdc42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ed06869ce468c" /><Relationship Type="http://schemas.openxmlformats.org/officeDocument/2006/relationships/image" Target="/ppt/media/image.jpeg" Id="Re1cdfde935d842ec" /><Relationship Type="http://schemas.openxmlformats.org/officeDocument/2006/relationships/notesSlide" Target="/ppt/notesSlides/notesSlide15.xml" Id="R0fe4d8741a574b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be2c3f6f44aa9" /><Relationship Type="http://schemas.openxmlformats.org/officeDocument/2006/relationships/notesSlide" Target="/ppt/notesSlides/notesSlide16.xml" Id="R240089d3404e44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668e06cd845d4" /><Relationship Type="http://schemas.openxmlformats.org/officeDocument/2006/relationships/notesSlide" Target="/ppt/notesSlides/notesSlide17.xml" Id="R6b3ac8932dd24e8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768495bc3459d" /><Relationship Type="http://schemas.openxmlformats.org/officeDocument/2006/relationships/notesSlide" Target="/ppt/notesSlides/notesSlide18.xml" Id="R81e03df15f7a40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adb3915dc422e" /><Relationship Type="http://schemas.openxmlformats.org/officeDocument/2006/relationships/notesSlide" Target="/ppt/notesSlides/notesSlide19.xml" Id="Rd96fd7c7cee945e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ba23388ef47b1" /><Relationship Type="http://schemas.openxmlformats.org/officeDocument/2006/relationships/notesSlide" Target="/ppt/notesSlides/notesSlide20.xml" Id="R124df4889ce241d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dde1871a947a9" /><Relationship Type="http://schemas.openxmlformats.org/officeDocument/2006/relationships/notesSlide" Target="/ppt/notesSlides/notesSlide21.xml" Id="R0dd53c863a0244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12edd939c43f6" /><Relationship Type="http://schemas.openxmlformats.org/officeDocument/2006/relationships/notesSlide" Target="/ppt/notesSlides/notesSlide22.xml" Id="Rf0db0acc5eab486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1fbb7ab7c46c2" /><Relationship Type="http://schemas.openxmlformats.org/officeDocument/2006/relationships/notesSlide" Target="/ppt/notesSlides/notesSlide23.xml" Id="R3c8287dd11a949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44E1D-CC7F-419D-98E6-3B71F710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PRD Genie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F6108-8ADB-498F-9504-78C674B7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CAE9E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CAE9EB"/>
                </a:solidFill>
                <a:latin typeface="Arial"/>
                <a:ea typeface="Arial"/>
                <a:cs typeface="Arial"/>
              </a:rPr>
              <a:t>AI-powered product documentation 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55784-546C-4AF6-BC86-6E0985F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Raghavendra Kaushik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FACF9-7F70-4CC3-BD87-622F2ACE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62575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7E0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7E0E7"/>
                </a:solidFill>
                <a:latin typeface="Arial"/>
                <a:ea typeface="Arial"/>
                <a:cs typeface="Arial"/>
              </a:rPr>
              <a:t>Applied Agentic AI for PMs/TPMs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823381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9015C-D4FF-4EDD-BCEC-D79C5C49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Assignment and submission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8039C-FF59-46AE-94B8-E6D71028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238250"/>
                <a:gridCol w="638175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Assignment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Points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Q1 Ideation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Pain points and agent opportunities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Q2 Program charter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Objectives, scope, owners and rollout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Q3 Build and evaluate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Architecture, live outputs, tests and cost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Q4 Reflection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Trace findings and improvement plan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8A5D4-E0B7-45E2-85CF-AD6E53DF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80 points in the supplied rubric. Scores remain the assessor’s decision.</a:t>
            </a:r>
          </a:p>
        </p:txBody>
      </p:sp>
    </p:spTree>
    <p:extLst>
      <p:ext uri="{BB962C8B-B14F-4D97-AF65-F5344CB8AC3E}">
        <p14:creationId xmlns:p14="http://schemas.microsoft.com/office/powerpoint/2010/main" val="346183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4FE89-EA08-472B-9F12-BD90AE0C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Manual PM work and agent opportunities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5D187-9BD6-4EEF-9E38-E86BDF68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905250"/>
                <a:gridCol w="3714750"/>
              </a:tblGrid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Manual work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Agent contribution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Reread long notes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Extract requirements and source quotes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Coverage audit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Reconcile viewpoints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Surface gaps and contradictions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Human resolution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Rewrite PRDs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Populate the standard template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Required-field gate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Create backlog items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Group traceable stories under epics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Exact source criteria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FE554-C1BF-4F42-9C35-7E53FFA4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Priority: preserve evidence first, then reduce repeated documentation work.</a:t>
            </a:r>
          </a:p>
        </p:txBody>
      </p:sp>
    </p:spTree>
    <p:extLst>
      <p:ext uri="{BB962C8B-B14F-4D97-AF65-F5344CB8AC3E}">
        <p14:creationId xmlns:p14="http://schemas.microsoft.com/office/powerpoint/2010/main" val="4506512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ABB45-7381-4B9A-B105-1BDE306E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Program charter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046D5-2F1B-42B9-9E7C-6DC1B1C4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BAE16-C609-400D-9929-667314CD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2F9A9-40C8-4641-A7FC-70A499E7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Help PMs produce consistent, reviewable documents while preserving each requirement’s origin.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4C373-2055-423C-97B5-8ACCB88C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D451B-0D54-4047-B960-DDC8E069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Raghavendra Kaushik owns the capstone, reviews requirements and makes the final merge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72FBD-16C8-431B-9C2A-B43AED77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Success criteria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93510-2A66-467F-8D31-62059FC4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Ten template sections, complete story coverage, zero unsupported scope after review, and all twelve baseline results recorded.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009D3-7CAF-45BB-BC68-99BFFA3A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Business measurement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A0C391-3600-4611-BE3C-5464CD0A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Proposed pilot target: 50% less time to an approved draft. A paired manual-versus-assisted study must validate it.</a:t>
            </a:r>
          </a:p>
        </p:txBody>
      </p:sp>
    </p:spTree>
    <p:extLst>
      <p:ext uri="{BB962C8B-B14F-4D97-AF65-F5344CB8AC3E}">
        <p14:creationId xmlns:p14="http://schemas.microsoft.com/office/powerpoint/2010/main" val="18191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38B40-616E-40B2-8CF5-B8F40E4E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Scope and delivery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FD2B2-F3E7-4665-AF36-9BD4B0BA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F92F5-A224-4A73-B5C5-636BE534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Implemented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DBF9C-62DC-4D3B-BC9B-03B4D4C1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Sequential agents, gap analysis, source validation, RAG context, persisted approval, wiki.md and Jira CSV.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77BEE-36DA-44F6-BF9E-A1D9452F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Current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EC07F-A5A6-4DBB-8CF2-BC563FEE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Local Langflow with Groq inference. Google Drive holds the knowledge files. A private GitHub feature branch holds deliverables.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689D7-F09B-4F8D-B462-04725BB5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Connections still needed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DEFBF-FC39-4100-B13C-8421EEB4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Direct Drive API retrieval and automatic GitHub publication require credentials inside Langflow. Browser sign-in alone does not connect the server.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76CC8-BAC6-41D0-9EC8-5F7D8853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Optional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E7283-A0EF-4F0A-85DD-CC780B1E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Training data and job scripts are ready. No fine-tuning job or tuned model is claimed.</a:t>
            </a:r>
          </a:p>
        </p:txBody>
      </p:sp>
    </p:spTree>
    <p:extLst>
      <p:ext uri="{BB962C8B-B14F-4D97-AF65-F5344CB8AC3E}">
        <p14:creationId xmlns:p14="http://schemas.microsoft.com/office/powerpoint/2010/main" val="111075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7E54D-3D95-422F-8C44-A31569F9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Sequential orchestration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A11F4-87A1-472F-B153-A6493843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ECB5E-BA23-49C7-BA60-C52A2CA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19050">
            <a:solidFill>
              <a:srgbClr val="087F8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Input and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A4F41-5F95-4D0F-B9ED-225A2694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09750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19050">
            <a:solidFill>
              <a:srgbClr val="087F8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Requirement</a:t>
            </a:r>
          </a:p>
          <a:p xmlns:a="http://schemas.openxmlformats.org/drawingml/2006/main">
            <a:pPr>
              <a:defRPr sz="20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Extractor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36062-C6B1-4973-A385-380714DC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19050">
            <a:solidFill>
              <a:srgbClr val="087F8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Gap and</a:t>
            </a:r>
          </a:p>
          <a:p xmlns:a="http://schemas.openxmlformats.org/drawingml/2006/main">
            <a:pPr>
              <a:defRPr sz="20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Completeness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F7CD8-4A16-45BE-8C29-763AFFFC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EEA"/>
          </a:solidFill>
          <a:ln xmlns:a="http://schemas.openxmlformats.org/drawingml/2006/main" w="19050">
            <a:solidFill>
              <a:srgbClr val="087F8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40E6F-3E5E-4830-A5C4-B067528F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48125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19050">
            <a:solidFill>
              <a:srgbClr val="087F8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Approved</a:t>
            </a:r>
          </a:p>
          <a:p xmlns:a="http://schemas.openxmlformats.org/drawingml/2006/main">
            <a:pPr>
              <a:defRPr sz="20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Revision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34A1E-740B-4A5B-8F25-6C91EC91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48125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19050">
            <a:solidFill>
              <a:srgbClr val="087F8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PRD</a:t>
            </a:r>
          </a:p>
          <a:p xmlns:a="http://schemas.openxmlformats.org/drawingml/2006/main">
            <a:pPr>
              <a:defRPr sz="20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D3E95-D3CA-4875-AEE1-2DE8CFAA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48125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19050">
            <a:solidFill>
              <a:srgbClr val="087F8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Story</a:t>
            </a:r>
          </a:p>
          <a:p xmlns:a="http://schemas.openxmlformats.org/drawingml/2006/main">
            <a:pPr>
              <a:defRPr sz="20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Breakdown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9DFD8-AD0D-42DC-BEFF-F0B975E1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324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19050">
            <a:solidFill>
              <a:srgbClr val="087F8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wiki.md / Jira</a:t>
            </a:r>
          </a:p>
          <a:p xmlns:a="http://schemas.openxmlformats.org/drawingml/2006/main">
            <a:pPr>
              <a:defRPr sz="2025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GitHub Version</a:t>
            </a:r>
          </a:p>
        </p:txBody>
      </p: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33700" y="22669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810250" y="22669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86800" y="22669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686800" y="45053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5810250" y="45053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2933700" y="45053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0401300" y="2724150"/>
            <a:ext cx="0" cy="1323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AE97A-F5F4-474C-BB7D-A561DB37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Review answers create a new revision. Generation requires its exact approved hash.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FC31D-4AA7-4F16-863B-88BD1074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Free-text baseline: extraction to draft artifacts. Strict v2: complete catalog plus human approval.</a:t>
            </a:r>
          </a:p>
        </p:txBody>
      </p:sp>
    </p:spTree>
    <p:extLst>
      <p:ext uri="{BB962C8B-B14F-4D97-AF65-F5344CB8AC3E}">
        <p14:creationId xmlns:p14="http://schemas.microsoft.com/office/powerpoint/2010/main" val="17989646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0C394-4260-4773-9842-8DA2D7C5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Agent contracts and tool rationale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3C1A4-87BB-48BD-9DD3-DEF6C915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524375"/>
                <a:gridCol w="4048125"/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boundary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it exists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Extractor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Stated evidence and uncertainty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Avoid invented scope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Gap Analyzer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Questions and conflicts only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Keep product decisions human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PRD Generator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Approved template mappings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Ensure consistent structure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Story Breakdown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Existing epics and requirement IDs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Preserve coverage and criteria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76C0B-276E-4879-8D75-C0DC7D97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Langflow provides an inspectable canvas and native traces. Groq uses the existing working connection.</a:t>
            </a:r>
          </a:p>
        </p:txBody>
      </p:sp>
    </p:spTree>
    <p:extLst>
      <p:ext uri="{BB962C8B-B14F-4D97-AF65-F5344CB8AC3E}">
        <p14:creationId xmlns:p14="http://schemas.microsoft.com/office/powerpoint/2010/main" val="500398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668D9-32E1-4267-8819-1EEC41E2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Knowledge retrieval and grounding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A583C-9BA8-4FCA-B067-79120747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0E453-08E8-45EB-B59A-EF512E07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Eight-file corpus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F2BC2-E0AD-49CD-948B-BE6459B9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Canonical JSON, detailed brief, API criteria, NFR notes, messy transcript, resolved decisions, original template and prior-PRD style reference.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F93D9-5BCF-45DC-B6CB-596D92A3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Retrieval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23BAB-B9FB-4BB6-801E-D27848B6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BM25 retrieves relevant context. The complete current catalog stays attached to avoid losing scope through top-k selection.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D59B4-98A3-4FB3-9600-ACEE1D30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Evidence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D0DD5-F26D-4030-ABBC-A6EDC997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Only current-product facts and explicit reviewer answers populate the PRD. Previous-product content provides style guidance.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2D03D-ACCE-4844-BBF0-42545491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Honest limitation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B4A70-5302-4D98-9EC4-0F2FF54D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The live run used an explicit embedded snapshot. Automatic normalization of arbitrary narratives into the v2 catalog remains future work.</a:t>
            </a:r>
          </a:p>
        </p:txBody>
      </p:sp>
    </p:spTree>
    <p:extLst>
      <p:ext uri="{BB962C8B-B14F-4D97-AF65-F5344CB8AC3E}">
        <p14:creationId xmlns:p14="http://schemas.microsoft.com/office/powerpoint/2010/main" val="1593930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9E2FD-77FF-4BCF-BCED-B8495A94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Human review before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B5B07-B44D-418A-9091-448225D0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7477125"/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 event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behavior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Initial extraction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Stops because reviewer identity is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Reviewer answer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Records Raghavendra Kaushik and creates revision 2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Approval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Checks exact revision and content hash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Any later amendment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Invalidates old approval and requires review again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E4571-EFB4-4121-AC6B-36104D82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Requirements approval permits a draft. Raghavendra still reviews wiki.md and merges the feature branch into main.</a:t>
            </a:r>
          </a:p>
        </p:txBody>
      </p:sp>
    </p:spTree>
    <p:extLst>
      <p:ext uri="{BB962C8B-B14F-4D97-AF65-F5344CB8AC3E}">
        <p14:creationId xmlns:p14="http://schemas.microsoft.com/office/powerpoint/2010/main" val="10886248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5FF06-459B-484C-96F6-F6B622E5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RelayOps sample PRD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6FD9C-A23B-4DBA-A07A-D3F7F196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3260F-D36F-44E5-979E-C8BE548E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Complete document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F1F8E-2F7F-46C9-9E14-032E82F5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Ten template sections cover goals, personas, behavior, NFRs, acceptance, scope, dependencies, assumptions, decisions and timeline.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058D3-91F4-4EAD-87B8-D9F262E7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Detailed sample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56F55-7C8A-48B4-AB25-6FA1A09C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Eight functional requirements, four NFRs and sixteen acceptance scenarios describe a tenant-isolated webhook replay console.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0C9CD-D533-48FF-88A7-37995B6F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Clear provenance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88AE8-8F81-494A-A5AE-D2889668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Author and reviewer are Raghavendra Kaushik. Source revision 2 and its approval receipt appear in the document.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FBBAC-16FA-4632-8D58-240AF46B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F93CE-F026-486E-930A-46943336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The Mermaid diagram contains eleven nodes and sixteen evidence-linked connections. GitHub renders it successfully.</a:t>
            </a:r>
          </a:p>
        </p:txBody>
      </p:sp>
    </p:spTree>
    <p:extLst>
      <p:ext uri="{BB962C8B-B14F-4D97-AF65-F5344CB8AC3E}">
        <p14:creationId xmlns:p14="http://schemas.microsoft.com/office/powerpoint/2010/main" val="18143995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B9D04-5DD7-4E8B-BC0F-FE3657D5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Jira stories with exact acceptance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381D3-AE26-40FA-8848-ACF9D1B8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07FFB-4522-48AF-A0F6-4EF0430C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FR-004  Deduplicate replay requests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C65AD-EF02-468D-8885-0B675936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As an Integration Operator, I want retries to return the existing replay job so that duplicate requests do not enqueue another replay.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567EC-EA17-47E9-90E9-C29F07C7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GIVEN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E2037-9586-4802-A946-9B621877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An accepted replay and its Idempotency-Key within the 24-hour window.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9697B-37FE-4DB7-9E2A-7FF52639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WHEN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0D7D4-C328-48A0-A07B-83392803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The same account retries the identical request concurrently or sequentially.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63423-7621-4B26-A0C4-C6A8262B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THEN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19459-6840-41C3-B28D-96457E4A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Every accepted response references the original replay_job_id and exactly one job has been enqueued.</a:t>
            </a:r>
          </a:p>
        </p:txBody>
      </p:sp>
    </p:spTree>
    <p:extLst>
      <p:ext uri="{BB962C8B-B14F-4D97-AF65-F5344CB8AC3E}">
        <p14:creationId xmlns:p14="http://schemas.microsoft.com/office/powerpoint/2010/main" val="5600051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A61FE-7649-41B8-AB0A-F6D548D4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C3D42-663D-4608-9F9C-7DA3208C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F6243-280D-4A72-9F63-F437CAC4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Official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0004D-0A56-4754-B4B5-E20B9DFD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T1–T10 execute the supplied source cases. T11 evaluates the actual T1 PRD. T12 evaluates its story breakdown.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61EA7-227E-44ED-9D25-F2F25564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Mechanical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09FC7-9950-45E7-A66E-1C27F4A5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Validate source quotes, schema, evidence references, template headings, exact thresholds and criterion fidelity.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A5922-ACB8-4DD5-B2AD-FA53418F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Semantic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5DCE9-2C76-45DF-91A4-8DB11FA2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Check omissions, unsupported benefits, scope interpretation, stakeholder neutrality and usefulness. Human sign-off remains separate.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DA666-7ACF-475B-A1E7-8CB4FCA1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Regression discipline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80545-56ED-4CF2-A882-40A36196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Preserve failures and prompt revisions. The supplied baseline informed tuning, so it is not an untouched holdout.</a:t>
            </a:r>
          </a:p>
        </p:txBody>
      </p:sp>
    </p:spTree>
    <p:extLst>
      <p:ext uri="{BB962C8B-B14F-4D97-AF65-F5344CB8AC3E}">
        <p14:creationId xmlns:p14="http://schemas.microsoft.com/office/powerpoint/2010/main" val="14536714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309C3-92DF-44B8-96AB-3B84C957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Baseline results T1–T6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FEB1A-5714-4AF7-A7B4-8BE0E0D1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857500"/>
                <a:gridCol w="7048500"/>
              </a:tblGrid>
              <a:tr h="56333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Execution / check result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T1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Automated checks passed; human review pending.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T2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Missing clarification about intended users.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T3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Refresh/API tension was not labelled as a conflict.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T4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Source criteria were not preserved as criteria in stories.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T5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Labelled ambiguous rather than insufficient.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T6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Execution error; no structured output returned.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F2310-09EF-45D6-97B1-E892D0AC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Results describe the recorded free-text baseline. They do not replace review of the strict v2 sample.</a:t>
            </a:r>
          </a:p>
        </p:txBody>
      </p:sp>
    </p:spTree>
    <p:extLst>
      <p:ext uri="{BB962C8B-B14F-4D97-AF65-F5344CB8AC3E}">
        <p14:creationId xmlns:p14="http://schemas.microsoft.com/office/powerpoint/2010/main" val="4704701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EC4CF-5B9F-4557-8F85-C4FABEC3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Baseline results T7–T12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74515-C5B0-45E4-985D-9DBC2673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2857500"/>
                <a:gridCol w="7048500"/>
              </a:tblGrid>
              <a:tr h="56333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Execution / check result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T7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Exact NFR classification check failed.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T8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Execution error; no structured output returned.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T9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Automated checks passed; human review pending.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T10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Dependency and owner linkage check failed.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T11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Automated checks passed; human review pending.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T12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Automated checks passed; human review pending.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DA49F-34FD-4641-A7B3-78BCEEEF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Results describe the recorded free-text baseline. They do not replace review of the strict v2 sample.</a:t>
            </a:r>
          </a:p>
        </p:txBody>
      </p:sp>
    </p:spTree>
    <p:extLst>
      <p:ext uri="{BB962C8B-B14F-4D97-AF65-F5344CB8AC3E}">
        <p14:creationId xmlns:p14="http://schemas.microsoft.com/office/powerpoint/2010/main" val="10504693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A0BC0-5DCB-4C02-998F-A8252DEA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Native execution traces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D3587-F637-4D9F-B6AF-BC68DE55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dfde935d842ec"/>
          <a:stretch xmlns:a="http://schemas.openxmlformats.org/drawingml/2006/main"/>
        </p:blipFill>
        <p:spPr>
          <a:xfrm xmlns:a="http://schemas.openxmlformats.org/drawingml/2006/main">
            <a:off x="3795600" y="1381125"/>
            <a:ext cx="4581749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C3818-4B6A-4F61-B53C-BB78D62A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Actual Langflow trace for the approved source revision and document generation</a:t>
            </a:r>
          </a:p>
        </p:txBody>
      </p:sp>
    </p:spTree>
    <p:extLst>
      <p:ext uri="{BB962C8B-B14F-4D97-AF65-F5344CB8AC3E}">
        <p14:creationId xmlns:p14="http://schemas.microsoft.com/office/powerpoint/2010/main" val="16764028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77961-0540-45AE-A252-7535204A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Trace findings and repairs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72524-ED9D-451C-9811-B0FBFCE0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0B654-3E54-48E1-A4B8-CB00A840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Failure that mattered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EEBA7-F534-46FA-903A-A0266E27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The Gap Analyzer referenced an unknown evidence ID. The validator blocked downstream output instead of silently accepting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BDC5B-2B95-4304-9BF3-DD7E5FF6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Repair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F44A1-5E3A-4C3C-873C-E5602431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Restrict the model’s evidence-ID schema to IDs present in that extraction. Preserve the failed attempt and rerun the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86350-B40D-4511-8B1B-906CD1C5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Quality beyond 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6FB88-7F9B-47F5-BE7A-38030CA9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A completed flow can still miss acceptance criteria or classify incomplete notes incorrectly. Baseline checks expose these distinctions.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97F61-B2A8-47F2-B19F-139CF996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Next iteration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60E1F-546D-4DE3-82AC-F88DBEE1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Add semantic gold labels, targeted error recovery, broader holdouts and reviewer calibration before production use.</a:t>
            </a:r>
          </a:p>
        </p:txBody>
      </p:sp>
    </p:spTree>
    <p:extLst>
      <p:ext uri="{BB962C8B-B14F-4D97-AF65-F5344CB8AC3E}">
        <p14:creationId xmlns:p14="http://schemas.microsoft.com/office/powerpoint/2010/main" val="20152551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309FB4-A0A9-4A5D-92AD-4FD80696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Cost model and observed token usage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BAA0A-B435-4A25-A5C8-9CC95DB8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00750"/>
                <a:gridCol w="2476500"/>
                <a:gridCol w="2476500"/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Approved v2 stage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tokens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 tokens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PRD Generator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374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321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Story Breakdown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597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292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Combined generation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971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613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D3020-2337-4DC3-93B3-9F7D0025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Groq GPT-OSS 120B: $0.15 / million input tokens and $0.60 / million output tokens.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8ACC4-7BD9-473D-B95D-597413F3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Observed generation estimate: $0.00051345. Retrieval/extraction, retries, storage and hosting are additional.</a:t>
            </a:r>
          </a:p>
        </p:txBody>
      </p:sp>
    </p:spTree>
    <p:extLst>
      <p:ext uri="{BB962C8B-B14F-4D97-AF65-F5344CB8AC3E}">
        <p14:creationId xmlns:p14="http://schemas.microsoft.com/office/powerpoint/2010/main" val="11559228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8693F-F8AE-4C1E-9B68-759E37A3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Security, reliability and release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AF50B-3921-4DAA-A41D-ACFFEEA0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23241-0EE5-47C0-A3D1-9242A00B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Secrets and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0555B-D17D-4F48-9604-DEC7A662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Keep provider and repository credentials in secret fields. Exports contain credential references, never API keys.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1AB22-55CF-4019-8B93-D3F08682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Grounding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69F16-35C2-4927-9901-19A2A28A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Treat documents as data. Validate exact source references and reject missing fields or unauthorized revision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F7015-7986-4977-8583-FA701A1B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Version publication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81CC7-6A11-4233-9492-34A43932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Create a single version commit with force disabled. Repeated publication checks its manifest before writing again.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2166A-4B53-4B9D-BE69-50B854CD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Production requirements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F3CC5-B029-4A04-A94A-CCC8A809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Persist SQLite on a Docker volume, authenticate reviewers, define retention, and test recovery and concurrent updates.</a:t>
            </a:r>
          </a:p>
        </p:txBody>
      </p:sp>
    </p:spTree>
    <p:extLst>
      <p:ext uri="{BB962C8B-B14F-4D97-AF65-F5344CB8AC3E}">
        <p14:creationId xmlns:p14="http://schemas.microsoft.com/office/powerpoint/2010/main" val="20327358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978A8-8264-4FE6-9D78-14887895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Rollout and acceptance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BD372-2FE4-4DB0-9562-7C3E19E5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048000"/>
                <a:gridCol w="5048250"/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Exit gate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Capstone demonstration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Raghavendra Kaushik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Artifacts, traces and baseline outcomes documented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Connection completion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Raghavendra Kaushik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Drive and GitHub server access tested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Small PM pilot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Proposed product team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Human source audit and paired timing study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Broader rollout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Future product leadership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Identity, retention, recovery and quality gates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43C25-82B0-4201-ACEE-BE52AADA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The pilot and enterprise rollout are proposals, not measured adoption or commitments.</a:t>
            </a:r>
          </a:p>
        </p:txBody>
      </p:sp>
    </p:spTree>
    <p:extLst>
      <p:ext uri="{BB962C8B-B14F-4D97-AF65-F5344CB8AC3E}">
        <p14:creationId xmlns:p14="http://schemas.microsoft.com/office/powerpoint/2010/main" val="14342002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09445-5245-48B9-835C-A61637E6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B0329-612B-45D2-85A4-FE3AA4C3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D70B9-3EA7-4A12-AD6D-5B6FF92A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polished PRD can hide a weak extraction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F03D3-7FD4-4847-93B8-2EB337DE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Trace inspection and source-level checks are necessary even when the document looks complete.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1EB9E-7419-48DF-B579-394D7F58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Review is a product requirement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FBAFA-884A-475E-9E44-5F7BEEA3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The person accepting scope must approve the exact evidence revision. A typed name alone is not enterprise identity assurance.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D0681-8748-4F8C-B5ED-959E6FDA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Model training needs its own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7E9DE-40B5-490D-8CE4-972A55E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Prepared examples and prompt changes do not establish fine-tuning. A real training job and held-out comparison are required.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80466-5E9C-46B4-9A78-F429AB65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Evaluation connects engineering to PM judgment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01489-F4C8-49BE-9758-75A69EB9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Contract validity, factual support, usability and business impact need different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4188397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12A45-2A89-464A-AA74-891D960F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Remaining work and decision 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DC707-1537-4281-B935-D13EA12B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143375"/>
                <a:gridCol w="3810000"/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state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 action</a:t>
                      </a:r>
                    </a:p>
                  </a:txBody>
                  <a:tcPr marL="91440" marR="91440" marT="45720" marB="45720">
                    <a:solidFill>
                      <a:srgbClr val="142D4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Fine-tuning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Dataset and scripts ready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Label review and supported training connection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Direct Drive retrieval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Files uploaded; snapshot used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Configure service-account access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Automatic GitHub commits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Code and mock tests ready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Provide scoped secret and verify a live commit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Quality promotion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Baseline outcomes documented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D42"/>
                          </a:solidFill>
                          <a:latin typeface="Arial"/>
                          <a:ea typeface="Arial"/>
                          <a:cs typeface="Arial"/>
                        </a:rPr>
                        <a:t>Resolve remaining failures and review holdouts</a:t>
                      </a:r>
                    </a:p>
                  </a:txBody>
                  <a:tcPr marL="91440" marR="91440" marT="45720" marB="45720">
                    <a:solidFill>
                      <a:srgbClr val="EDF3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0BF35-C90E-4607-93C5-5056A8FD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These limitations remain explicit in the submission. No model quality or productivity improvement is fabricated.</a:t>
            </a:r>
          </a:p>
        </p:txBody>
      </p:sp>
    </p:spTree>
    <p:extLst>
      <p:ext uri="{BB962C8B-B14F-4D97-AF65-F5344CB8AC3E}">
        <p14:creationId xmlns:p14="http://schemas.microsoft.com/office/powerpoint/2010/main" val="7901233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3CFC1-BA0B-4D4E-84D8-5FB5DDC0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D42"/>
                </a:solidFill>
                <a:latin typeface="Arial"/>
                <a:ea typeface="Arial"/>
                <a:cs typeface="Arial"/>
              </a:rPr>
              <a:t>Submission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0D2FC-0BA4-4770-9E63-C04D3025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7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7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2848F-CE4F-490B-BA2F-344ED4F1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Assignment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200FF-794F-49B6-8C8F-5792C605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Q1 ideation, Q2 charter, a two-page Q3 writeup and one-page Q4 reflection.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B6030-03A0-48C2-8463-3DB5BD11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Implementation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BB600-DEC8-4CCB-81E8-DF746F31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Workflow JSON, README, complete source kit, wiki.md, Jira import, twelve baseline outputs and native trace screenshots.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85EA7-CBC4-482C-B444-13D3EE66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Presentation and demonstration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7E9293-DF08-4D5F-8CB2-AA5A45ED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Editable presentation, architecture diagrams and a five-minute narrated walkthrough using actual project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A38EB-F09E-49BC-B9DA-03956142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Repository and Drive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B3E67-BB5D-4EA3-8A5B-10C96FAD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2"/>
                </a:solidFill>
                <a:latin typeface="Arial"/>
                <a:ea typeface="Arial"/>
                <a:cs typeface="Arial"/>
              </a:rPr>
              <a:t>Private repository prd-genie-capstone. Feature/Raghav_IK_Capstone_SEP2026. Drive folder Capstone_Raghav_SEP2026.</a:t>
            </a:r>
          </a:p>
        </p:txBody>
      </p:sp>
    </p:spTree>
    <p:extLst>
      <p:ext uri="{BB962C8B-B14F-4D97-AF65-F5344CB8AC3E}">
        <p14:creationId xmlns:p14="http://schemas.microsoft.com/office/powerpoint/2010/main" val="34944867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42D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E282B-8072-46BB-A48A-2646DA9B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Reviewable requirements.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Traceable decisions.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2DFA3-CFF7-4F47-B068-6C22B1CD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1EEE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1EEEE"/>
                </a:solidFill>
                <a:latin typeface="Arial"/>
                <a:ea typeface="Arial"/>
                <a:cs typeface="Arial"/>
              </a:rPr>
              <a:t>Raghavendra Kaushik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AD96F-96BA-4257-A650-B538657C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7E0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0E7"/>
                </a:solidFill>
                <a:latin typeface="Arial"/>
                <a:ea typeface="Arial"/>
                <a:cs typeface="Arial"/>
              </a:rPr>
              <a:t>PRD Genie capstone  •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23946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2026-09-13T06:05:07.4810000Z</dcterms:created>
  <dcterms:modified xsi:type="dcterms:W3CDTF">2026-09-13T06:05:07.4810000Z</dcterms:modified>
</coreProperties>
</file>